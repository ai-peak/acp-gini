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c8c8b3e05b4d1b" /><Relationship Type="http://schemas.openxmlformats.org/officeDocument/2006/relationships/extended-properties" Target="/docProps/app.xml" Id="R114e0d4fb6b445e6" /><Relationship Type="http://schemas.openxmlformats.org/officeDocument/2006/relationships/officeDocument" Target="/ppt/presentation.xml" Id="R98fb9e1e08c24e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65a4358f14377"/>
  </p:sldMasterIdLst>
  <p:notesMasterIdLst>
    <p:notesMasterId xmlns:r="http://schemas.openxmlformats.org/officeDocument/2006/relationships" r:id="Rd13d2992a1eb45da"/>
  </p:notesMasterIdLst>
  <p:sldIdLst>
    <p:sldId xmlns:r="http://schemas.openxmlformats.org/officeDocument/2006/relationships" id="256" r:id="R7d9b3d866e084a02"/>
    <p:sldId xmlns:r="http://schemas.openxmlformats.org/officeDocument/2006/relationships" id="257" r:id="Ra631e7e81e094e6f"/>
    <p:sldId xmlns:r="http://schemas.openxmlformats.org/officeDocument/2006/relationships" id="258" r:id="R9281ff08b5f141b2"/>
    <p:sldId xmlns:r="http://schemas.openxmlformats.org/officeDocument/2006/relationships" id="259" r:id="R358e141fc6f24b25"/>
    <p:sldId xmlns:r="http://schemas.openxmlformats.org/officeDocument/2006/relationships" id="260" r:id="Re69cc7286ae74885"/>
    <p:sldId xmlns:r="http://schemas.openxmlformats.org/officeDocument/2006/relationships" id="261" r:id="R40c44f245cd24b42"/>
    <p:sldId xmlns:r="http://schemas.openxmlformats.org/officeDocument/2006/relationships" id="262" r:id="Rd4a81c27c30d4580"/>
    <p:sldId xmlns:r="http://schemas.openxmlformats.org/officeDocument/2006/relationships" id="263" r:id="R60c9ab2b7126425d"/>
    <p:sldId xmlns:r="http://schemas.openxmlformats.org/officeDocument/2006/relationships" id="264" r:id="R57bd9cd673e84385"/>
    <p:sldId xmlns:r="http://schemas.openxmlformats.org/officeDocument/2006/relationships" id="265" r:id="Rd76e5c3f4cd24420"/>
    <p:sldId xmlns:r="http://schemas.openxmlformats.org/officeDocument/2006/relationships" id="266" r:id="R2fe14482d00d4335"/>
    <p:sldId xmlns:r="http://schemas.openxmlformats.org/officeDocument/2006/relationships" id="267" r:id="Rc816e7460d24464c"/>
    <p:sldId xmlns:r="http://schemas.openxmlformats.org/officeDocument/2006/relationships" id="268" r:id="Rdb9b10096abe46e9"/>
    <p:sldId xmlns:r="http://schemas.openxmlformats.org/officeDocument/2006/relationships" id="269" r:id="Rc534ca249d6a4ef5"/>
    <p:sldId xmlns:r="http://schemas.openxmlformats.org/officeDocument/2006/relationships" id="270" r:id="R1030101a67c04e7d"/>
    <p:sldId xmlns:r="http://schemas.openxmlformats.org/officeDocument/2006/relationships" id="271" r:id="Ra64da75e620a44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3ff8d1ef2745be" /><Relationship Type="http://schemas.openxmlformats.org/officeDocument/2006/relationships/slideMaster" Target="/ppt/slideMasters/slideMaster1.xml" Id="R63965a4358f14377" /><Relationship Type="http://schemas.openxmlformats.org/officeDocument/2006/relationships/notesMaster" Target="/ppt/notesMasters/notesMaster1.xml" Id="Rd13d2992a1eb45da" /><Relationship Type="http://schemas.openxmlformats.org/officeDocument/2006/relationships/presProps" Target="/ppt/presProps.xml" Id="R53bb45e5f34f4a3d" /><Relationship Type="http://schemas.openxmlformats.org/officeDocument/2006/relationships/tableStyles" Target="/ppt/tableStyles.xml" Id="Rb227dfac415e4fcc" /><Relationship Type="http://schemas.openxmlformats.org/officeDocument/2006/relationships/slide" Target="/ppt/slides/slide1.xml" Id="R7d9b3d866e084a02" /><Relationship Type="http://schemas.openxmlformats.org/officeDocument/2006/relationships/slide" Target="/ppt/slides/slide2.xml" Id="Ra631e7e81e094e6f" /><Relationship Type="http://schemas.openxmlformats.org/officeDocument/2006/relationships/slide" Target="/ppt/slides/slide3.xml" Id="R9281ff08b5f141b2" /><Relationship Type="http://schemas.openxmlformats.org/officeDocument/2006/relationships/slide" Target="/ppt/slides/slide4.xml" Id="R358e141fc6f24b25" /><Relationship Type="http://schemas.openxmlformats.org/officeDocument/2006/relationships/slide" Target="/ppt/slides/slide5.xml" Id="Re69cc7286ae74885" /><Relationship Type="http://schemas.openxmlformats.org/officeDocument/2006/relationships/slide" Target="/ppt/slides/slide6.xml" Id="R40c44f245cd24b42" /><Relationship Type="http://schemas.openxmlformats.org/officeDocument/2006/relationships/slide" Target="/ppt/slides/slide7.xml" Id="Rd4a81c27c30d4580" /><Relationship Type="http://schemas.openxmlformats.org/officeDocument/2006/relationships/slide" Target="/ppt/slides/slide8.xml" Id="R60c9ab2b7126425d" /><Relationship Type="http://schemas.openxmlformats.org/officeDocument/2006/relationships/slide" Target="/ppt/slides/slide9.xml" Id="R57bd9cd673e84385" /><Relationship Type="http://schemas.openxmlformats.org/officeDocument/2006/relationships/slide" Target="/ppt/slides/slide10.xml" Id="Rd76e5c3f4cd24420" /><Relationship Type="http://schemas.openxmlformats.org/officeDocument/2006/relationships/slide" Target="/ppt/slides/slide11.xml" Id="R2fe14482d00d4335" /><Relationship Type="http://schemas.openxmlformats.org/officeDocument/2006/relationships/slide" Target="/ppt/slides/slide12.xml" Id="Rc816e7460d24464c" /><Relationship Type="http://schemas.openxmlformats.org/officeDocument/2006/relationships/slide" Target="/ppt/slides/slide13.xml" Id="Rdb9b10096abe46e9" /><Relationship Type="http://schemas.openxmlformats.org/officeDocument/2006/relationships/slide" Target="/ppt/slides/slide14.xml" Id="Rc534ca249d6a4ef5" /><Relationship Type="http://schemas.openxmlformats.org/officeDocument/2006/relationships/slide" Target="/ppt/slides/slide15.xml" Id="R1030101a67c04e7d" /><Relationship Type="http://schemas.openxmlformats.org/officeDocument/2006/relationships/slide" Target="/ppt/slides/slide16.xml" Id="Ra64da75e620a44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537373102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fdcaec93c34a55" /><Relationship Type="http://schemas.openxmlformats.org/officeDocument/2006/relationships/notesMaster" Target="/ppt/notesMasters/notesMaster1.xml" Id="Rf34b4091e549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20051e893b46d2" /><Relationship Type="http://schemas.openxmlformats.org/officeDocument/2006/relationships/notesMaster" Target="/ppt/notesMasters/notesMaster1.xml" Id="R1a62541d74ce4b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fa88931854e11" /><Relationship Type="http://schemas.openxmlformats.org/officeDocument/2006/relationships/notesMaster" Target="/ppt/notesMasters/notesMaster1.xml" Id="Rbf3bbfef023f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38f7aca854489" /><Relationship Type="http://schemas.openxmlformats.org/officeDocument/2006/relationships/notesMaster" Target="/ppt/notesMasters/notesMaster1.xml" Id="R63a19da407324f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4b8522d2448bb" /><Relationship Type="http://schemas.openxmlformats.org/officeDocument/2006/relationships/notesMaster" Target="/ppt/notesMasters/notesMaster1.xml" Id="Rcf5b1cc417b549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75661aba334441" /><Relationship Type="http://schemas.openxmlformats.org/officeDocument/2006/relationships/notesMaster" Target="/ppt/notesMasters/notesMaster1.xml" Id="Rcafc4164b3b0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467f2ca83141c4" /><Relationship Type="http://schemas.openxmlformats.org/officeDocument/2006/relationships/notesMaster" Target="/ppt/notesMasters/notesMaster1.xml" Id="R9d660455e1ad47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bcacaab6be4a98" /><Relationship Type="http://schemas.openxmlformats.org/officeDocument/2006/relationships/notesMaster" Target="/ppt/notesMasters/notesMaster1.xml" Id="R717a3b6f42bd4d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b54869bec64c18" /><Relationship Type="http://schemas.openxmlformats.org/officeDocument/2006/relationships/notesMaster" Target="/ppt/notesMasters/notesMaster1.xml" Id="Rd08d3014d7bb44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ba07a87d3b4e49" /><Relationship Type="http://schemas.openxmlformats.org/officeDocument/2006/relationships/notesMaster" Target="/ppt/notesMasters/notesMaster1.xml" Id="Rba1838b3ec7542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0ea182f9c04b7c" /><Relationship Type="http://schemas.openxmlformats.org/officeDocument/2006/relationships/notesMaster" Target="/ppt/notesMasters/notesMaster1.xml" Id="R1ba0ed2ae9954a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ab147519a04453" /><Relationship Type="http://schemas.openxmlformats.org/officeDocument/2006/relationships/notesMaster" Target="/ppt/notesMasters/notesMaster1.xml" Id="Radfea71952d047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4ca2e193564015" /><Relationship Type="http://schemas.openxmlformats.org/officeDocument/2006/relationships/notesMaster" Target="/ppt/notesMasters/notesMaster1.xml" Id="R2d08c4bc92c44d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d858be8af54d47" /><Relationship Type="http://schemas.openxmlformats.org/officeDocument/2006/relationships/notesMaster" Target="/ppt/notesMasters/notesMaster1.xml" Id="R20a4c456786942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3198d59b4f4d37" /><Relationship Type="http://schemas.openxmlformats.org/officeDocument/2006/relationships/notesMaster" Target="/ppt/notesMasters/notesMaster1.xml" Id="Rddd50a10344b44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64bcf4f0d64eff" /><Relationship Type="http://schemas.openxmlformats.org/officeDocument/2006/relationships/notesMaster" Target="/ppt/notesMasters/notesMaster1.xml" Id="R28ec10486ff7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a1ed49d8a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d340f27b9e4571" /><Relationship Type="http://schemas.openxmlformats.org/officeDocument/2006/relationships/slideLayout" Target="/ppt/slideLayouts/slideLayout1.xml" Id="Rea39717b848d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39717b848d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3bcd78a044696" /><Relationship Type="http://schemas.openxmlformats.org/officeDocument/2006/relationships/notesSlide" Target="/ppt/notesSlides/notesSlide1.xml" Id="Rf73e6fe368744a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35c552920441f" /><Relationship Type="http://schemas.openxmlformats.org/officeDocument/2006/relationships/notesSlide" Target="/ppt/notesSlides/notesSlide2.xml" Id="R5da0906b342149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fd4e2f1b64551" /><Relationship Type="http://schemas.openxmlformats.org/officeDocument/2006/relationships/notesSlide" Target="/ppt/notesSlides/notesSlide3.xml" Id="Rae2c184fd189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f2d45acc54887" /><Relationship Type="http://schemas.openxmlformats.org/officeDocument/2006/relationships/notesSlide" Target="/ppt/notesSlides/notesSlide4.xml" Id="R24a19acd4f164c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b2d4eff0c4756" /><Relationship Type="http://schemas.openxmlformats.org/officeDocument/2006/relationships/notesSlide" Target="/ppt/notesSlides/notesSlide5.xml" Id="R3c04738d5082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6329d7484631" /><Relationship Type="http://schemas.openxmlformats.org/officeDocument/2006/relationships/notesSlide" Target="/ppt/notesSlides/notesSlide6.xml" Id="R4e3ac4a2270c40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9ea5d51c64f6c" /><Relationship Type="http://schemas.openxmlformats.org/officeDocument/2006/relationships/notesSlide" Target="/ppt/notesSlides/notesSlide7.xml" Id="R5de1f20f81184e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14ce52674aac" /><Relationship Type="http://schemas.openxmlformats.org/officeDocument/2006/relationships/notesSlide" Target="/ppt/notesSlides/notesSlide8.xml" Id="R7d297f24ad6a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e790f12894e9e" /><Relationship Type="http://schemas.openxmlformats.org/officeDocument/2006/relationships/notesSlide" Target="/ppt/notesSlides/notesSlide9.xml" Id="R1fdeaed148ef46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658ac557c48b4" /><Relationship Type="http://schemas.openxmlformats.org/officeDocument/2006/relationships/image" Target="/ppt/media/image.png" Id="Rd64febd3deca492f" /><Relationship Type="http://schemas.openxmlformats.org/officeDocument/2006/relationships/notesSlide" Target="/ppt/notesSlides/notesSlide10.xml" Id="R70e48a240e144e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00fa4d83d4637" /><Relationship Type="http://schemas.openxmlformats.org/officeDocument/2006/relationships/image" Target="/ppt/media/image2.png" Id="R7dba99a25d424bc6" /><Relationship Type="http://schemas.openxmlformats.org/officeDocument/2006/relationships/notesSlide" Target="/ppt/notesSlides/notesSlide11.xml" Id="R16dd74e24c8f4b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eb7f0b0544950" /><Relationship Type="http://schemas.openxmlformats.org/officeDocument/2006/relationships/image" Target="/ppt/media/image3.png" Id="R24871fb3fc1f40f4" /><Relationship Type="http://schemas.openxmlformats.org/officeDocument/2006/relationships/notesSlide" Target="/ppt/notesSlides/notesSlide12.xml" Id="Raa3eb8479ab64e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ac8fc9109441e" /><Relationship Type="http://schemas.openxmlformats.org/officeDocument/2006/relationships/image" Target="/ppt/media/image4.png" Id="R83bf72131d824a6a" /><Relationship Type="http://schemas.openxmlformats.org/officeDocument/2006/relationships/notesSlide" Target="/ppt/notesSlides/notesSlide13.xml" Id="R3ac4fb63480d45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7092cf5e443c0" /><Relationship Type="http://schemas.openxmlformats.org/officeDocument/2006/relationships/image" Target="/ppt/media/image5.png" Id="R6fce72b792984b8e" /><Relationship Type="http://schemas.openxmlformats.org/officeDocument/2006/relationships/notesSlide" Target="/ppt/notesSlides/notesSlide14.xml" Id="R900c9cef7b144a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9b1f107ce4507" /><Relationship Type="http://schemas.openxmlformats.org/officeDocument/2006/relationships/image" Target="/ppt/media/image6.png" Id="Rf80983faece341c2" /><Relationship Type="http://schemas.openxmlformats.org/officeDocument/2006/relationships/notesSlide" Target="/ppt/notesSlides/notesSlide15.xml" Id="R2415426302ad42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a18d4f5f540ff" /><Relationship Type="http://schemas.openxmlformats.org/officeDocument/2006/relationships/notesSlide" Target="/ppt/notesSlides/notesSlide16.xml" Id="R3bf2f2bbf2d744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E8FC7-BC28-4F89-BFC3-E6F8ADE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683D6-671B-4734-94E2-D411928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ACP-GINI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760A6-6FF1-4560-9E13-869DB3C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Ancestor-correlation penalties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for less redundant decision trees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89A77-8571-49C0-B3A8-8765358B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F58E2-67B7-44E6-81F9-E10A0B84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33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ΔG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8EDD2-2946-467B-9CD1-A72C27F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6DCBF4"/>
                </a:solidFill>
              </a:defRPr>
            </a:pPr>
            <a:r>
              <a:rPr sz="3150" b="0">
                <a:solidFill>
                  <a:srgbClr val="6DCBF4"/>
                </a:solidFill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7B61B-0485-4727-B38A-957AB09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432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path penalty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EE5A8-1F56-44BE-9714-6619DF84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Huynh Khang Lam  •  Tuan Dat Phan  •  Trong Nhan Nguyen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FPT University</a:t>
            </a:r>
          </a:p>
        </p:txBody>
      </p:sp>
    </p:spTree>
    <p:extLst>
      <p:ext uri="{BB962C8B-B14F-4D97-AF65-F5344CB8AC3E}">
        <p14:creationId xmlns:p14="http://schemas.microsoft.com/office/powerpoint/2010/main" val="1672610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70EE4-1C74-4276-BE8F-540F853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5D194-DF43-419A-B9E8-B984C6B4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2A0A6-4A18-4646-A173-3F57F520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Trees avoid coefficient failure — not redundant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81B0F-43DD-4165-921F-B7017148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3C40D-C4C1-4852-917A-79D3FB78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X₁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309C1-5AA6-4CC0-A257-CE495DA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0">
                <a:solidFill>
                  <a:srgbClr val="3D8DFF"/>
                </a:solidFill>
              </a:defRPr>
            </a:pPr>
            <a:r>
              <a:rPr sz="4800" b="0">
                <a:solidFill>
                  <a:srgbClr val="3D8DFF"/>
                </a:solidFill>
              </a:rPr>
              <a:t>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815FE-F2F7-45EB-BE7A-92E4E07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X₂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5C018-0112-46A3-A272-C54B91E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DD20A-0147-4D32-9486-6A92784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84566-3D67-4B7A-99F6-CCD9BFCB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Near-equal gains make representatives interchangeable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B1CA0-9F05-4CCE-BCB1-3299A1B5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2B462-1089-44A2-BAE4-8E899C8B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Several members of one correlated block can reappear downstream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A5593-97CC-4995-A290-ABDBD5E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C84EF-0BD6-47A7-897D-7910B73E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623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Accuracy can stay strong while the explanation repeats itself</a:t>
            </a:r>
          </a:p>
        </p:txBody>
      </p:sp>
    </p:spTree>
    <p:extLst>
      <p:ext uri="{BB962C8B-B14F-4D97-AF65-F5344CB8AC3E}">
        <p14:creationId xmlns:p14="http://schemas.microsoft.com/office/powerpoint/2010/main" val="1677785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F3B72-8225-4E82-A307-D037930C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51742-5DD8-4727-A0D0-104A636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CONSEQUENCES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4CCCD-47DA-4B88-9A39-76B61004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practical cost is interpretability, not only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B634-32C1-4E48-BF7E-2A81FE2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50E5B-A069-41FF-8FE7-37A17D20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008FB-0174-400A-8EB6-BDBF8475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Unstable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AD486-D503-4791-8AEE-51309CBF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small sample changes alter downstream branches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7F36C-4D4E-4F03-8A9A-E71D01C8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E4D60-CD92-4DA8-A49E-E4866BD9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Diluted importance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95E15-4640-4C2B-B582-3D7ED81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one signal is divided across substitutes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D3BD6-BFF1-4093-8BD1-3BDDCCA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1079F-14EB-40F4-A84D-17A7DA4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Redundant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67442-0AE6-47B3-A807-CC783EF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different nodes reuse the same evidence block</a:t>
            </a:r>
          </a:p>
        </p:txBody>
      </p:sp>
    </p:spTree>
    <p:extLst>
      <p:ext uri="{BB962C8B-B14F-4D97-AF65-F5344CB8AC3E}">
        <p14:creationId xmlns:p14="http://schemas.microsoft.com/office/powerpoint/2010/main" val="727396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CACDB-3B14-4FCE-94B5-484AD5D6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6A08A-F851-4994-B1B3-5897F7B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70BA2-9178-4C23-8AA4-8F4FB8E1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Existing methods regulate features globally; ACP-Gini is path-local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F0E87-A55F-4DD3-A013-BF4FD9C3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7948F-DFC3-47AA-AC78-B03FD98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VIF pruning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579FB-403F-42DE-BCBD-BBE0D42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drops variables before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26AB-46B5-4DAE-B342-1878935D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information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AD5F7-976C-463D-AAF6-35B01FE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BC5C6-8BE9-40F7-9ACC-EB9CA915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RRF-style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7C2CF-F16D-46A2-9F1D-2D9D524F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384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fixed penalty for new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3A599-2C8A-4E12-8931-F83F08CD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384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not pairwise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E33C1-4222-4D87-A66C-8074284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8FCDF-E248-46B9-AEEA-885DB917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Conditional importance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EAD07-C8E1-4C82-A99C-82775B5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147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post-hoc diagnostic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8F6A9-90F0-45F0-B74C-DB0FFCD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147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does not change the 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B5034-715A-4175-AB9A-EE042C9E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0E60F-BC6F-47E5-B7B4-76991EF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ACP-Gini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F7047-4DEE-43B9-AAF9-99A26C5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correlation with path ancestors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AD768-F155-437D-B2C9-030B281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single-tree construction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ECC72-027E-4BCB-AD6C-C33B8905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0029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3E5D4-CBD5-44D2-A9F6-08C5D8D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6147-8BDC-4CE0-9889-A7B052F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93328-323E-4A59-913E-BBECB6CC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Four questions separate redundancy, stability, accuracy, and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2F180-77A5-4332-9C9B-1F2C6116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F8BDB-1C2C-4C01-A215-EC5A7DA6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EAAB9-4A7E-42EB-92D9-5CFA3417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62125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RQ1 — Does bootstrap structure become more stable?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0B03B-C89F-4DBA-849A-DFD2802C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9FFC8-02D8-4803-BBB6-CAF6E82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RQ2 — Are selected features less redundant and importance more reliable?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D551A-A87E-4C33-8618-0D65D4A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CCD6C-D4D7-46E0-ABD5-98E3E08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14725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RQ3 — What accuracy–penalty tradeoff does α create?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22C81-F6FF-4B1B-BA77-34DC7D33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F9A5E-05BA-4954-B488-50A0FA2E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RQ4 — Do trees become smaller under the same depth budget?</a:t>
            </a:r>
          </a:p>
        </p:txBody>
      </p:sp>
    </p:spTree>
    <p:extLst>
      <p:ext uri="{BB962C8B-B14F-4D97-AF65-F5344CB8AC3E}">
        <p14:creationId xmlns:p14="http://schemas.microsoft.com/office/powerpoint/2010/main" val="830872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2EC3C-78DF-4E40-89DE-40943D3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A78A9-11E9-467A-9390-E161AA8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ACP-GINI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C73A9-E966-42F3-B04A-D03454D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Penalize correlation with distinct features already on the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12635-3C22-4C3A-9053-7A3E389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2938-6482-4637-A169-CBE47559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Penalty(Xⱼ,T) = ∏ [1 − α |r(Xⱼ,Xₚ)|]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C35FF-DFDE-40CB-AFC8-E504D566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</a:defRPr>
            </a:pPr>
            <a:r>
              <a:rPr sz="1650" b="0">
                <a:solidFill>
                  <a:srgbClr val="5F6670"/>
                </a:solidFill>
              </a:rPr>
              <a:t>Xₚ ∈ ancestors(T), Xₚ ≠ Xⱼ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A4B57-EBB9-42E4-BEE0-BD5AC40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776AA-A1BE-4EF4-A096-A2FE7F3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root: no penalty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DD4CD-B7D9-4407-8C84-C96216C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BE67C-1DFA-4403-8050-B5ADFE47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child: compare to root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8CB4D-D2BB-494D-8419-F0B18A1C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3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0B086-DDA4-4A21-921E-379244BC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deeper: accumulate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C5BA8-C0A5-47D3-8FB2-0BD577C8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No self-penalty • raw gain controls stopping • α=0 is exactly CART</a:t>
            </a:r>
          </a:p>
        </p:txBody>
      </p:sp>
    </p:spTree>
    <p:extLst>
      <p:ext uri="{BB962C8B-B14F-4D97-AF65-F5344CB8AC3E}">
        <p14:creationId xmlns:p14="http://schemas.microsoft.com/office/powerpoint/2010/main" val="28034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8772E-5DA5-4DBA-8887-F2994CF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F5CB5-36FD-4DDB-874E-B37FF1E6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FORMAL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EDB3D-D4A9-4808-99AE-0769BC93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criterion changes ordering — never whether information exists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A7038-E2AA-4F03-8D08-68DE101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38606-0995-410C-A275-BD612EF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6118-C2DB-48AD-915A-D773DAF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Backward compatible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46EDE-FF6F-4828-A13D-FEC0C93A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</a:defRPr>
            </a:pPr>
            <a:r>
              <a:rPr sz="1425" b="0">
                <a:solidFill>
                  <a:srgbClr val="5F6670"/>
                </a:solidFill>
              </a:rPr>
              <a:t>α=0 gives CART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CC48F-4CD5-45EC-8610-945FBC33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63EA4-0893-46C8-8D91-FE2F7572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Monotone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B61C2-4627-4D3E-9760-6DD99349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</a:defRPr>
            </a:pPr>
            <a:r>
              <a:rPr sz="1425" b="0">
                <a:solidFill>
                  <a:srgbClr val="5F6670"/>
                </a:solidFill>
              </a:rPr>
              <a:t>higher |r| lowers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EB31-5B9B-4586-85E8-5823CCAA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83434-7AA5-4746-808E-092AB02D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Accumulating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64E34-653B-43F9-889B-ADA0BD2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</a:defRPr>
            </a:pPr>
            <a:r>
              <a:rPr sz="1425" b="0">
                <a:solidFill>
                  <a:srgbClr val="5F6670"/>
                </a:solidFill>
              </a:rPr>
              <a:t>several ancestors compound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66B55-3C7C-43E9-850B-57D20638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8172F-2B59-4887-AF1A-350AA3D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No hard exclusion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92055-7A39-4AE8-BCDE-3A891F3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</a:defRPr>
            </a:pPr>
            <a:r>
              <a:rPr sz="1425" b="0">
                <a:solidFill>
                  <a:srgbClr val="5F6670"/>
                </a:solidFill>
              </a:rPr>
              <a:t>positive factors for α&lt;1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A97BE-0F97-4FD0-8991-757719C1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65097-465D-41A9-988D-8EE65CA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Repeat-safe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EBF4E-180D-47B4-BCE7-7C991DCA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</a:defRPr>
            </a:pPr>
            <a:r>
              <a:rPr sz="1425" b="0">
                <a:solidFill>
                  <a:srgbClr val="5F6670"/>
                </a:solidFill>
              </a:rPr>
              <a:t>same feature is excluded from its own penalty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E61E3-59BA-4D8A-ADD2-7AC3031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0302F-8064-4F62-99CB-67F11E7C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Raw-gain stopping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999CD-A313-4C60-9C5D-76E28D5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</a:defRPr>
            </a:pPr>
            <a:r>
              <a:rPr sz="1425" b="0">
                <a:solidFill>
                  <a:srgbClr val="5F6670"/>
                </a:solidFill>
              </a:rPr>
              <a:t>penalty cannot create an artificial leaf</a:t>
            </a:r>
          </a:p>
        </p:txBody>
      </p:sp>
    </p:spTree>
    <p:extLst>
      <p:ext uri="{BB962C8B-B14F-4D97-AF65-F5344CB8AC3E}">
        <p14:creationId xmlns:p14="http://schemas.microsoft.com/office/powerpoint/2010/main" val="1055699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27E6C-5CB2-4830-91EC-68D4E16C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D874E-20A9-4202-9E91-14316ED5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ALGORITHM AND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A5C4-FFAA-402A-A246-51802E8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conservative selection rule biases disagreements toward CART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B9FC3-FB3E-49C6-935A-DAD8913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8E05-9A46-42E2-9469-B51F42CC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288EC-3694-4F89-A450-6B8476F4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Scan thresholds with cumulative class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18F17-27FC-4766-833D-69D1804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8C5C3-EF3C-4FE8-9336-073CE971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Score each best raw gain × ancestor penalty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A2C68-5ADC-4C9F-B1B3-76F1FDF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0DF60-EFB1-49F6-BBF4-D75F769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Tie-break by score, raw gain, then lowest feature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3A17E-D7DF-45CB-A40D-93400A83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8C76B-0FD1-4691-9B99-58F2D66C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Keep α values within 1 SD of CART macro-F1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C7513-0882-48FA-9869-A4C9971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E6F0A-C95B-4BCA-9432-C72B4DA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00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Aggregate fold choices by lower quartile; RRF λ uses upper quartile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60372-1C1B-46ED-9027-D43A5A7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76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FBFC2-18CC-4C1F-9B62-8967538A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E728-9049-4287-9DF8-B8D06A16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O(nd²)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one-time correlation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+ path lookups</a:t>
            </a:r>
          </a:p>
        </p:txBody>
      </p:sp>
    </p:spTree>
    <p:extLst>
      <p:ext uri="{BB962C8B-B14F-4D97-AF65-F5344CB8AC3E}">
        <p14:creationId xmlns:p14="http://schemas.microsoft.com/office/powerpoint/2010/main" val="1375404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ADDBC-E529-40D8-9926-C236CF9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99519-2D7E-4D6C-9283-485F1B0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EXPERIMENTAL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CDBC6-B1F8-4F73-BE9F-B4738DC7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benchmark isolates the split criterion under one complexity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A2190-55EA-456D-B786-D717354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57373-E5FD-430C-8E2B-372F8993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A3845-0D4E-43B3-ADAE-0FDA4D1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5 real binary datasets + controlled synthetic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E2C9B-34AD-41B9-B19D-5B90FA3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D7AA9-9248-419B-B23E-26DAC3B8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CART, VIF+CART, RRF-style, ACP-Gini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F6854-D00B-4487-B58A-43853E5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4AD5B-621F-4D9F-9725-97AA4A99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5-fold CV × 3 seeds = 15 held-out observations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825B9-4346-410D-9C54-B27D747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45CB3-FE9F-4083-B3C3-C64F315E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B=50 bootstrap trees per training fold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0CAB9-82A7-4C40-BFE1-74A91600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F2564-7112-467E-BBB4-134BD5A6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max_depth=6; min_samples_leaf=5; paired Wilcoxon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3AC35-4042-48FE-9657-BC27445C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381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A2E6B-27F4-4756-9411-FB9A8790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Headline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635FC-FC90-4E79-9C2B-1206FE8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Accuracy / macro-F1 / AUC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Weighted selected-set redundancy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Importance rank correlation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Top-5 Jaccard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Split-composition distance</a:t>
            </a:r>
          </a:p>
        </p:txBody>
      </p:sp>
    </p:spTree>
    <p:extLst>
      <p:ext uri="{BB962C8B-B14F-4D97-AF65-F5344CB8AC3E}">
        <p14:creationId xmlns:p14="http://schemas.microsoft.com/office/powerpoint/2010/main" val="620907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ED11F-CF89-4CFF-84D6-2FC4174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2C538-C4F6-4422-9869-36FEAF10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CONTROLLED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4C370-AB49-470B-B229-DA89D21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Synthetic groups recover broader signal coverage as α increases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FF25A-1D1E-4D5B-A4B7-C7A5096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febd3deca492f"/>
          <a:stretch xmlns:a="http://schemas.openxmlformats.org/drawingml/2006/main"/>
        </p:blipFill>
        <p:spPr>
          <a:xfrm xmlns:a="http://schemas.openxmlformats.org/drawingml/2006/main">
            <a:off x="666750" y="1638300"/>
            <a:ext cx="10858500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6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F7FEA-BCAC-4EC0-9EBE-16F406F0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2CBC-721F-4071-90DC-EBD90A2D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ALPHA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15A00-0C71-4DFA-AB08-4958ADDF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Accuracy stays flat while concentration improves — with a small noise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AE222-1269-4264-8DE6-D2B0632A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a99a25d424bc6"/>
          <a:stretch xmlns:a="http://schemas.openxmlformats.org/drawingml/2006/main"/>
        </p:blipFill>
        <p:spPr>
          <a:xfrm xmlns:a="http://schemas.openxmlformats.org/drawingml/2006/main">
            <a:off x="666750" y="1638300"/>
            <a:ext cx="10858500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85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43C84-1323-49DA-8BCC-C5193EDB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C9BA6-4B08-45C6-B1B1-3AA47099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MAIN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AECC9-0966-42EF-AA3A-13B7CAD4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ACP-Gini lowers internal correlation on every collinear real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BA866-A606-43F0-A2D7-2C30BC16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71fb3fc1f40f4"/>
          <a:stretch xmlns:a="http://schemas.openxmlformats.org/drawingml/2006/main"/>
        </p:blipFill>
        <p:spPr>
          <a:xfrm xmlns:a="http://schemas.openxmlformats.org/drawingml/2006/main">
            <a:off x="571500" y="2000250"/>
            <a:ext cx="723900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BE5FC-D634-48C0-9199-4D7A212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A3CE0-B1F8-4342-BD91-08197B89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8FF3E-76D3-4C48-9BC7-7DE64832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D3286-5193-49C8-B042-D1C4917C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717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Wine: strongest selected-setting reduction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4131F-A9C7-490A-91D3-5200E02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00A33-1172-4CA3-BEDB-474C639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623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WDBC: conservative α keeps accuracy unchanged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66ADD-27F9-4134-977C-134E2A20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48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157B6-686A-4AB1-8DEA-AF560A21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528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Sonar gap shrinks after lower-quartile refinement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8A576-CBD9-4141-A719-4A9C0360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38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F26DB-4713-45B2-AB57-F2C80FDE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434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Pima control remains practically flat</a:t>
            </a:r>
          </a:p>
        </p:txBody>
      </p:sp>
    </p:spTree>
    <p:extLst>
      <p:ext uri="{BB962C8B-B14F-4D97-AF65-F5344CB8AC3E}">
        <p14:creationId xmlns:p14="http://schemas.microsoft.com/office/powerpoint/2010/main" val="653967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12483-4171-4B6C-9DA7-17DE4FF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0B544-D21D-4370-B89D-3853C09B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ED346-451F-4EF7-A8BE-641BAB3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Stability is conditional: redundancy reduction can diversify rankings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70106-472E-4526-B1C6-DB32DB04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f72131d824a6a"/>
          <a:stretch xmlns:a="http://schemas.openxmlformats.org/drawingml/2006/main"/>
        </p:blipFill>
        <p:spPr>
          <a:xfrm xmlns:a="http://schemas.openxmlformats.org/drawingml/2006/main">
            <a:off x="571500" y="2000250"/>
            <a:ext cx="70485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9A688-5562-4EB9-ACFC-BCE93722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</a:defRPr>
            </a:pPr>
            <a:r>
              <a:rPr sz="2550" b="1">
                <a:solidFill>
                  <a:srgbClr val="2F8F5B"/>
                </a:solidFill>
              </a:rPr>
              <a:t>Wine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6F0BB-EDD6-4F59-8FDD-1455A9A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redundancy ↓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stability 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6ECAC-A7A6-4B2B-A493-226F3FF7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4E52"/>
                </a:solidFill>
              </a:defRPr>
            </a:pPr>
            <a:r>
              <a:rPr sz="2250" b="1">
                <a:solidFill>
                  <a:srgbClr val="C44E52"/>
                </a:solidFill>
              </a:rPr>
              <a:t>WDBC / Sonar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347BF-9B45-49C6-A1B6-DCC5BBE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redundancy ↓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rank stability ↓</a:t>
            </a:r>
          </a:p>
        </p:txBody>
      </p:sp>
    </p:spTree>
    <p:extLst>
      <p:ext uri="{BB962C8B-B14F-4D97-AF65-F5344CB8AC3E}">
        <p14:creationId xmlns:p14="http://schemas.microsoft.com/office/powerpoint/2010/main" val="11211925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1BCB7-F704-4C63-AC65-48010A6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E9B0F-FA50-4F51-87C7-84F434E8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QUALITATIVE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D6129-E77B-4949-B3CB-682833C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path changes below an identical root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61D51-BFC9-4287-818A-A8AAC28A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e72b792984b8e"/>
          <a:stretch xmlns:a="http://schemas.openxmlformats.org/drawingml/2006/main"/>
        </p:blipFill>
        <p:spPr>
          <a:xfrm xmlns:a="http://schemas.openxmlformats.org/drawingml/2006/main">
            <a:off x="666750" y="1590675"/>
            <a:ext cx="10858500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02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DA929-B892-44F5-B2BA-6C6DC3F7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E3BEB-84D6-4F6F-9BA2-F6703CE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OPERATING CHARACTERISTICS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4911B-159E-4E6F-AF84-E7FEBFDE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α is an operating control, not a universal optimum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39E70-A0DE-4B93-B29A-75C3C775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983faece341c2"/>
          <a:stretch xmlns:a="http://schemas.openxmlformats.org/drawingml/2006/main"/>
        </p:blipFill>
        <p:spPr>
          <a:xfrm xmlns:a="http://schemas.openxmlformats.org/drawingml/2006/main">
            <a:off x="666750" y="2113492"/>
            <a:ext cx="7810500" cy="32977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0DCBA-74EE-4918-81C0-2E597345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312E8-7D4F-4A3B-A8D9-A94EE51A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WDBC spot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3F46-9AC9-4BD8-BD71-81F1814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19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α=0.6</a:t>
            </a:r>
          </a:p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46.5% less redundancy</a:t>
            </a:r>
          </a:p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accuracy unchanged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B13DB-B4B6-443A-A1A4-1EEC969C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</a:defRPr>
            </a:pPr>
            <a:r>
              <a:rPr sz="1275" b="0">
                <a:solidFill>
                  <a:srgbClr val="5F6670"/>
                </a:solidFill>
              </a:rPr>
              <a:t>Three-seed average: 38.5% reduction with a 0.17 pp accuracy change</a:t>
            </a:r>
          </a:p>
        </p:txBody>
      </p:sp>
    </p:spTree>
    <p:extLst>
      <p:ext uri="{BB962C8B-B14F-4D97-AF65-F5344CB8AC3E}">
        <p14:creationId xmlns:p14="http://schemas.microsoft.com/office/powerpoint/2010/main" val="17614246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A0AAE-ACD9-48F1-A631-64A5B2E3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</a:defRPr>
            </a:pPr>
            <a:r>
              <a:rPr sz="900" b="0">
                <a:solidFill>
                  <a:srgbClr val="5F6670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14ACF-FA6D-4668-A8AD-9221A34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3BF96-CF12-41A2-B694-4BAFD50A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ACP-Gini is a redundancy control with an honest stability tradeoff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9BD4-7A62-4FA5-98B4-7F200CBC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7F9C3-5761-491A-87BC-0B6925A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FB199-0A7C-4E94-8CA3-43347F2C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Primary: less internally correlated selected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C6A43-4BAC-4C4A-8007-E8D3819C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56653-B266-4F93-80F4-A2969D5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Synthetic: better group coverage and concentration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FA20E-9672-4EA6-A94E-773F4BB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E2BDA-70B2-4E4F-9B8F-FA309853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Predictive performance: statistically indistinguishable at selected 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14686-9F2B-45E1-BA3E-07FB39B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63D5E-7A4A-4198-8B4A-A2F2FF6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Stability: improves on Wine/Pima, decreases on WDBC/Sonar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DC9AB-F7A1-4D4B-A307-5B71927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86F91-E7E4-41D3-B486-5E64F0F7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Next: categorical association, regression, ensembles, theory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FAB43-C579-4661-8EC9-E005D07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F3807-FCB2-4913-B5D7-85746BC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Takeaway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E93E5-DCE7-494E-A1DD-DD589BB5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14625"/>
            <a:ext cx="190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Accuracy alone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does not measure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explanation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ECECE-1E85-45BE-A8EE-CF608AB1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References: Breiman et al. (1984); Deng &amp; Runger (2012, 2013); Strobl et al. (2008); Dormann et al. (2013); Rudin (2019).</a:t>
            </a:r>
          </a:p>
        </p:txBody>
      </p:sp>
    </p:spTree>
    <p:extLst>
      <p:ext uri="{BB962C8B-B14F-4D97-AF65-F5344CB8AC3E}">
        <p14:creationId xmlns:p14="http://schemas.microsoft.com/office/powerpoint/2010/main" val="1316292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2026-07-19T16:53:40.7740000Z</dcterms:created>
  <dcterms:modified xsi:type="dcterms:W3CDTF">2026-07-19T16:53:40.7740000Z</dcterms:modified>
</coreProperties>
</file>