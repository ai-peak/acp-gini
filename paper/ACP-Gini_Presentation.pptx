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ACP-Gini: Path-dependent Correlation Penalization</a:t>
            </a:r>
            <a:br/>
            <a:r>
              <a:t>for Decision Tree Induction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E5E7EB"/>
                </a:solidFill>
                <a:latin typeface="Calibri"/>
              </a:defRPr>
            </a:pPr>
            <a:r>
              <a:t>Phương pháp cải tiến độ lợi phân tách nhằm chống lại đa cộng tuyến cục bộ</a:t>
            </a:r>
            <a:br/>
            <a:r>
              <a:t>Nhóm tác giả: Huỳnh Khang Lâm, Phan Tuấn Đạt, Nguyễn Trong Nhân, Nguyễn Xuân Huy</a:t>
            </a:r>
            <a:br/>
            <a:r>
              <a:t>Đại học FPT - Chuyên ngành Trí tuệ Nhân tạo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2: Cây quyết định &amp; Học máy giải thích được (Interpretable 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Cây quyết định đơn lẻ (Single Decision Tree - CART) là mô hình học máy dạng trực quan hàng đầu.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Khác với mô hình hộp đen (như Random Forest hay Deep Learning), con người có thể dễ dàng kiểm toán các quy tắc ra quyết định dưới dạng If-Then.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Tính giải thích được đặc biệt quan trọng trong các lĩnh vực có độ rủi ro cao như y học, luật pháp và tài chính.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Tuy nhiên, tính minh bạch này bị tổn hại nghiêm trọng khi cấu trúc cây quá phức tạp hoặc chứa nhiều thông tin dư thừa.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3: Khái niệm Đa cộng tuyến (Multicollinearity)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Đa cộng tuyến xảy ra khi hai hoặc nhiều biến độc lập trong mô hình có mối quan hệ tuyến tính mạnh mẽ với nhau.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Trong các mô hình tuyến tính cổ điển (Linear/Logistic Regression), đa cộng tuyến gây mất ổn định cho hệ số hồi quy.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Hệ số hồi quy có thể bị đảo dấu hoặc có sai số tiêu chuẩn cực lớn, làm cho việc giải thích biến đóng vai trò gì trở nên bất khoa học.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Mặc dù cây quyết định không tính toán hệ số đồng thời, hiện tượng này vẫn ngầm phá hoại cấu trúc phân tách của cây.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4: Ảnh hưởng ẩn của đa cộng tuyến đối với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CART tìm kiếm đặc trưng một cách tham lam (greedy) tại từng nút để tối đa hóa độ lợi thông tin (Gini gain).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Khi có một nhóm đặc trưng tương quan mạnh với nhau, độ lợi Gini thô của chúng gần như giống hệt nhau.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Một thay đổi nhỏ trong tập dữ liệu huấn luyện có thể khiến thuật toán chọn biến này thay vì biến kia (gây ra sự mất ổn định cực cao).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Kết quả là cây chọn các biến thay thế cho nhau tại các nhánh sâu hơn, gây lặp thông tin và phình to cấu trúc cây.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5: Tác hại cụ thể của đa cộng tuyến đối với diễn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1. Độ dư thừa đặc trưng cao: Cây quyết định chứa nhiều biến cộng tuyến dọc theo các nhánh, gây lãng phí dung lượng mô hình.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2. Phân tán độ quan trọng đặc trưng: Độ quan trọng Gini (MDI) bị chia nhỏ và phân phối cho nhiều biến proxy tương đương nhau.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3. Cản trở kiểm toán mô hình: Chuyên gia con người gặp khó khăn trong việc hiểu yếu tố thực sự quyết định dự báo.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4. Mất ổn định bootstrap: Cấu trúc cây thay đổi mạnh giữa các tập con dữ liệu, làm giảm lòng tin của người dùng.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6: Giải pháp Mô hình tập hợp (Ensemble Methods)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Các phương pháp tập hợp như Random Forest và Bagging ổn định hóa đặc trưng bằng cách trung bình hóa hàng trăm cây quyết định.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Độ quan trọng đặc trưng được tính trung bình giúp giảm phương sai chọn lựa đặc trưng.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Tuy nhiên, việc này biến mô hình thành một hộp đen lớn (Black-box) không thể diễn giải trực tiếp.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Chúng ta không thể biểu diễn hàng ngàn quy tắc phân tách phức tạp cho một bác sĩ hay một thẩm phán xem xét thủ công.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7: Giải pháp lọc biến toàn cục (VIF Preprocessing)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Hệ số VIF (Variance Inflation Factor) thường được tính để loại bỏ các biến cộng tuyến mạnh trước khi huấn luyện.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Quyết định loại bỏ này mang tính toàn cục (global) và không thể thu hồi.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Tuy nhiên, một đặc trưng có thể tương quan mạnh trên toàn cục nhưng vẫn mang lại thông tin phân tách cục bộ độc đáo ở một nhánh sâu.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VIF loại bỏ biến vĩnh viễn, dẫn đến mất mát thông tin cục bộ và làm giảm hiệu năng dự báo của cây.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8: Giải pháp phạt đặc trưng toàn cục (Regularized Trees)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Các mô hình như Regularized Random Forest (RRF) áp dụng một hình phạt cố định lên các đặc trưng mới xuất hiện.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Cơ chế này khuyến khích thuật toán tái sử dụng các đặc trưng đã chọn trước đó để giữ cây nhỏ gọn.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Tuy nhiên, RRF phạt đặc trưng một cách mù quáng trên toàn cục mà không xem xét mối liên hệ tương quan cục bộ.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Nó không giải quyết được vấn đề cây liên tục chọn các biến cộng tuyến khác nhau trên cùng một nhánh quyết định.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9: Khoảng trống nghiên cứu &amp; Động lực của ACP-Gini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Chưa có phương pháp nào phạt tương quan một cách động, phụ thuộc trực tiếp vào đường đi cục bộ (root-to-node path).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Chúng ta cần một tiêu chí phân tách thông minh: Phạt biến ứng viên nếu nó tương quan mạnh với các biến đã chọn làm tổ tiên.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Hình phạt này phải hoạt động trực tiếp trong quá trình phân tách của một cây duy nhất mà không cần tiền xử lý dữ liệu.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Điều này thúc đẩy sự ra đời của ACP-Gini: Ancestor-Correlation Penalized Gini.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10: Ý tưởng cốt lõi của ACP-Gini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Khi duyệt tìm đặc trưng phân tách tốt nhất tại một nút, thuật toán không chỉ nhìn vào độ lợi Gini thô.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Nó sẽ kiểm tra tập đặc trưng tổ tiên đã chọn trên đường đi từ gốc đến nút hiện tại.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Nếu biến ứng viên có độ tương quan cao với bất kỳ biến tổ tiên nào, độ lợi của nó sẽ bị chiết khấu (phạt).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Điều này ép cây quyết định phải chuyển hướng sang chọn các biến thuộc nhóm thông tin độc lập khác ở các nhánh con.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11: Định nghĩa toán học của ACP-Gini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Điểm số phân tách đề xuất (Penalized Split Score):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    S(X_j, t) = Gini_gain(X_j, t) * P(X_j, T)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Hàm phạt tích đường dẫn (Path Product Penalty):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    P(X_j, T) = Tích của (1 - alpha * |r(X_j, X_p)|) với mọi p thuộc tập tổ tiên A_j(T)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Hệ số phạt alpha nằm trong [0, 1] kiểm soát lực lượng phạt (alpha = 0 tương đương CART).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|r(X_j, X_p)| là giá trị tuyệt đối của hệ số tương quan (Pearson/Spearman) giữa biến ứng viên và biến tổ tiên.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12: Nguyên tắc Không phạt tự thân (No Self-Penalty)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Thiết kế quan trọng: Tập tổ tiên dùng để phạt biến X_j loại trừ chính biến X_j.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Công thức: A_j(T) = { p thuộc tập tổ tiên A(T) sao cho p khác j }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Tại sao cần thiết? Với các biến liên tục, một đặc trưng thường cần được phân tách nhiều lần dọc theo một nhánh để phân vùng dữ liệu.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Nếu phạt tự thân, cây sẽ không thể cắt sâu trên cùng một biến liên tục, làm giảm nghiêm trọng hiệu năng dự báo.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13: Nguyên tắc Dừng phân tách bằng Gini thô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Thiết kế quan trọng: Quyết định dừng phân tách (Stopping Rule) hoàn toàn độc lập với điểm số phạt S.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Cây chỉ dừng phân tách tại nút hiện tại nếu độ lợi Gini thô nhỏ hơn ngưỡng cực tiểu (ví dụ: 1e-15).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Hàm phạt chỉ dùng để thay đổi thứ tự ưu tiên chọn đặc trưng (reordering), chứ không ép nút dừng phân tách sớm.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Nhờ vậy, cây ACP-Gini vẫn giữ được kích thước và độ sâu tương đương với cây CART mà không bị cụt nhánh.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14: Thuộc tính 1: Đơn điệu theo tập tổ tiên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Tính đơn điệu (Score Monotonicity): Nếu tập tổ tiên A(T) mở rộng thành A'(T) (tức là đi sâu hơn), hệ số phạt chỉ có thể giảm hoặc giữ nguyên.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Công thức chứng minh: P(X_j, T') = P(X_j, T) * Tích của (1 - alpha * |r|) đối với các tổ tiên mới.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Biết các số nhân luôn nằm trong [0, 1], ta có P(X_j, T') &lt;= P(X_j, T), kéo theo S(X_j, t)_T' &lt;= S(X_j, t)_T.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Tính chất này đảm bảo điểm số của biến giảm đơn điệu theo độ sâu nhánh, loại bỏ tính bất hợp lý của các hàm phạt trung bình cộng.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15: Thuộc tính 2 &amp; 3: Đơn điệu tương quan &amp; Bị chặn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Tính đơn điệu theo lực tương quan (Property 2): Điểm phạt P(X_j, T) giảm đơn điệu theo độ lớn của hệ số tương quan |r| với bất kỳ biến tổ tiên nào.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Đạo hàm riêng theo |r(X_j, X_p)| luôn âm (-alpha &lt;= 0), đảm bảo tương quan càng mạnh thì điểm phạt càng nặng.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Tính bị chặn (Property 3 - Boundedness): Điểm phạt P(X_j, T) luôn nằm trong khoảng [0, 1] với mọi alpha và tương quan.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Điều này đảm bảo điểm số phạt S(X_j, t) luôn nhỏ hơn hoặc bằng độ lợi thô, không gây ra sự khuếch đại điểm số phi lý.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16: Bổ đề bảo toàn phân tách &amp; Độ phức tạp thuật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Bổ đề 1 (Preservation of Informative Splits): Nếu nút hiện tại chứa ít nhất một ứng viên có độ lợi thô dương, ACP-Gini chắc chắn sẽ phân tách và không dừng sớm.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Độ phức tạp tính toán (Time Complexity):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CART thô: O(n * d * log n) tại mỗi mức độ sâu của cây để sắp xếp đặc trưng.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ACP-Gini: Chỉ thêm O(d * h) chi phí tra cứu bảng tương quan (h &lt;= 6 là độ sâu tối đa, d là số biến).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Do h &lt;&lt; n, chi phí tra cứu tương quan cục bộ là vô cùng nhỏ, fit time chỉ tương đương 0.85 - 1.44 lần CART.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17: Bảng 1: Bộ dữ liệu thực tế &amp; Chỉ số Collinearity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 (n)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 (d)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 Ratio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Pairs |r| &gt; 0.7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WDBC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569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0.627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0.161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Ionosphere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0.359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Pima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768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0.349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18: Các bộ chỉ số đánh giá 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1. Hiệu năng dự báo: Đo bằng Accuracy, Macro-F1, và AUC trên tập kiểm thử độc lập.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2. Độ dư thừa đặc trưng (Redundancy): Đo bằng độ tương quan cặp trung bình của tập đặc trưng đã chọn, cả toàn bộ (set) lẫn có trọng số Gini chuẩn hóa (weighted Rw).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3. Độ ổn định (Stability): Đo bằng hệ số Jaccard của tập đặc trưng được chọn qua các lượt bootstrap, tương quan Spearman của độ quan trọng, và khoảng cách phân tách cấu trúc cây.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4. Phép thử thống kê: Sử dụng kiểm định Wilcoxon signed-rank phối hợp hiệu chỉnh Holm-Bonferroni để kiểm tra ý nghĩa thống kê.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19: Quy trình chọn siêu tham số tự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Sử dụng kỹ thuật chọn tham số đồng thuận (consensus tuning) để tránh rò rỉ thông tin kiểm thử: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Trên mỗi fold huấn luyện, chạy Inner-CV 3-fold để đánh giá alpha trong {0.2, 0.4, 0.6, 0.8, 1.0}.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Lọc ra các giá trị alpha giữ được độ chính xác (Macro-F1) nằm trong khoảng 1 độ lệch chuẩn của CART gốc.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Chọn alpha có tương quan độ quan trọng cao nhất để đảm bảo cây ổn định.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Lấy điểm tứ phân vị dưới (lower quartile) của các alpha được chọn qua 15 fold để làm hệ số đồng thuận toàn cục.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20: Kết quả thực nghiệm trên dữ liệu nhân tạo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Trên dữ liệu giả lập có các nhóm biến tương quan (rho từ 0.7 đến 0.99):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Độ phủ nhóm (Group Coverage): Tăng từ 0.68 (CART) lên 0.74 (ACP-Gini alpha=1.0) chứng minh cây bao phủ được nhiều nhóm thông tin độc lập hơn.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Độ tập trung nhóm (Group Concentration): Tăng mạnh từ 0.690 lên 0.745 chứng minh mô hình chỉ chọn đúng 1 đại diện tốt nhất của nhóm tương quan.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RRF-style đạt độ tập trung cao nhưng bằng cách lặp lại thuộc tính thô, không chuyển dịch được sang giảm dư thừa thực tế.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21: Bảng 2: Hiệu năng dự báo thực tế (CART vs ACP-Gini)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WDBC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0.934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0.953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WDBC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0.747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0.725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0.797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Ionosphere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0.885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0.910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Ionosphere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Sonar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0.736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0.752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Pima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0.737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0.698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0.774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22: Bảng 3: Kết quả giảm độ dư thừa đặc trưng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 Redundancy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Weighted Red. (Rw)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WDBC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0.433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0.634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WDBC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0.244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0.166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Ionosphere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Ionosphere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Sonar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0.238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0.228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Pima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0.169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0.183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ACP-Gini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23: Sự đánh đổi độ ổn định &amp; Nghịch lý tập dữ liệu Wine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Đánh đổi độ ổn định (Stability Trade-off):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Độ ổn định tăng trên tập Wine và Pima, nhưng giảm nhẹ trên WDBC và Sonar.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Nguyên nhân: CART đạt độ ổn định giả bằng cách liên tục chọn ngẫu nhiên các biến trong cùng nhóm tương quan mạnh. ACP-Gini ép cây chọn đa dạng biến độc lập, làm giảm tương quan độ quan trọng giữa các lượt bootstrap.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Giải thích nghịch lý tập Wine (Collinearity toàn cục thấp nhưng giảm dư thừa mạnh nhất - 29.6%):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Wine chứa các tương quan cục bộ nhỏ mà bộ lọc toàn cục VIF bỏ qua. CART lặp lại chúng trên cùng một nhánh.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ACP-Gini phát hiện cục bộ và triệt tiêu thành công sự dư thừa này ngay khi cây đang lớn.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24: Bảng 8 Case Study: Vết phân tách trên tập WDBC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Raw Gain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(Root)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Penalty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ACP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CART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ACP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mean texture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0.0437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0.3526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0.9295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0.0406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worst texture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texture error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0.0421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0.1117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0.9777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0.0412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mean concavity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worst concavity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0.0372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0.5740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0.8852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0.0330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Slide 25: Tổng kết &amp; Hướng nghiên cứu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Tổng kết đóng góp chính của nghiên cứu: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1. Đề xuất tiêu chí phân tách cải tiến ACP-Gini giải quyết đa cộng tuyến cục bộ cho cây đơn lẻ.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2. Chứng minh đầy đủ 3 thuộc tính toán học cốt lõi (Đơn điệu tổ tiên, tương quan, và tính bị chặn).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3. Giảm mạnh độ dư thừa đặc trưng (Rw giảm tới 29.6%) trên dữ liệu thực tế mà không làm giảm độ chính xác dự báo.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Các hướng nghiên cứu tương lai đầy triển vọng: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Áp dụng các độ đo phi tuyến tính (Mutual Information, HSIC) để xử lý các liên kết phi tuyến.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Hỗ trợ các biến phân loại (categorical features) bằng các kiểm định thống kê chi bình phương hoặc Cramér's V.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  - Tích hợp cơ chế phạt cục bộ vào các mô hình rừng ngẫu nhiên (Random Forest) để tối ưu hóa ensembles.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